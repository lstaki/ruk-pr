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601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TRIWIZATHON PROBLEM STATEMENT 2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</a:defRPr>
            </a:pPr>
            <a:r>
              <a:t>StockWise AI</a:t>
            </a:r>
          </a:p>
          <a:p>
            <a:pPr>
              <a:spcAft>
                <a:spcPts val="1800"/>
              </a:spcAft>
              <a:defRPr sz="2000">
                <a:solidFill>
                  <a:srgbClr val="E2E8F0"/>
                </a:solidFill>
              </a:defRPr>
            </a:pPr>
            <a:r>
              <a:t>AI-Powered FMCG Distribution Intelligence &amp; Inventory Optimization Engine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A local-first, mathematically sound decision engine connecting demand forecasting, multi-echelon replenishment, and constraint-aware Mixed-Integer Programming.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3035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Architecture: Next.js 15 | FastAPI | Google OR-Tools | SQLite3 | 12-Invariant Mathematical Verifier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The FMCG Operational Problem: Multi-Variable Distribution Dilemma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</a:defRPr>
            </a:pPr>
            <a:r>
              <a:t>01. Demand Volatility Across Corridors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Consumer order rates swing dynamically across retail tiers (hypermarkets, supermarkets, mom-and-pop bodegas) with pronounced day-of-week seasonality and Poisson order clustering.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</a:defRPr>
            </a:pPr>
            <a:r>
              <a:t>02. Uneven Multi-Echelon Stock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Regional warehouses experience severe inventory imbalances: central hubs hold surplus while peripheral hubs risk imminent stockouts on high-velocity SKUs.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6908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</a:defRPr>
            </a:pPr>
            <a:r>
              <a:t>03. Perishable Expiry &amp; FEFO Pressure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Shipping older batches across slow transit routes risks arrival with insufficient shelf life, generating retail shrinkage and FMCG distributor return penalties.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12064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</a:defRPr>
            </a:pPr>
            <a:r>
              <a:t>04. Transport Cost vs. Service Level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Expedited deliveries prevent store stockouts but erode FMCG operating margins. Planners must balance freight budgets against customer fulfillment guarantees.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StockWise AI Solution: Closed-Loop Distribution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011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0284C7"/>
                </a:solidFill>
              </a:defRPr>
            </a:pPr>
            <a:r>
              <a:t>1. Demand Forecasting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EWMA, Naive &amp; Seasonal-Naive over 800 corridors with backtesting validation (MAE &amp; WAPE).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554480"/>
            <a:ext cx="2011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0284C7"/>
                </a:solidFill>
              </a:defRPr>
            </a:pPr>
            <a:r>
              <a:t>2. Replenishment Calculation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Lead-time demand + dynamic safety stock to compute exact carton replenishment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554480"/>
            <a:ext cx="2011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0284C7"/>
                </a:solidFill>
              </a:defRPr>
            </a:pPr>
            <a:r>
              <a:t>3. Constraint-Aware MIP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Google OR-Tools solver evaluating physical stock, throughput limits, and delivery cutoffs.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554480"/>
            <a:ext cx="2011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0284C7"/>
                </a:solidFill>
              </a:defRPr>
            </a:pPr>
            <a:r>
              <a:t>4. Independent Verification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12-invariant external verifier guarantees feasibility before any plan is presented.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1554480"/>
            <a:ext cx="2011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0284C7"/>
                </a:solidFill>
              </a:defRPr>
            </a:pPr>
            <a:r>
              <a:t>5. Explainable Execution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Driver-based natural language attribution and RFC 4180 CSV export for supply chain planners.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Local-First Enterprise 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8580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Presentation Layer (Next.js 15 App Router)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React 19, TypeScript strict mode, TanStack React Query v5, Recharts, Tailwind CSS tokens. 7 interactive operational control towers.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68580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API Services Layer (FastAPI Asynchronous Backend)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Pydantic v2 schemas, OpenAPI/Swagger contracts, RFC 4180 / OWASP CSV sanitization, planning run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68580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Analytical Engines Layer (Forecasting &amp; Replenishment)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EWMA / Naive / Seasonal Naive models, lead-time demand scaling, dynamic safety stock, stockout risk banding.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68580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Optimization &amp; Verification Layer (OR-Tools MIP &amp; Verifier)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Google OR-Tools branch-and-cut linear solver, 3 multi-objective profiles, independent 12-invariant mathematical auditor.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94960"/>
            <a:ext cx="6858000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Persistence Layer (Relational SQLite3 &amp; Alembic)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Master data, routes, batch-level inventory, 96k demand history records, persisted planning runs, and shipment audit trails.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371600"/>
            <a:ext cx="356616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Key Architectural Pillars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• Strict Plan Decoupling: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  Advisory plans in PlanningRun never mutate base inventory items in InventoryItem.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• 100% Deterministic Seed: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  Seed 42 generates identical coordinates, routes, and batch expiries on every clean run.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• Independent Greedy Baseline: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  Built-in heuristic comparator evaluates identical constraints without solver bias.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• Offline &amp; Local-First: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  Zero external cloud or LLM dependencies. Operates seamlessly in secure air-gapped environments.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Demand Forecasting &amp; Inventory Accounting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Forecasting vs. Replenishment Derivation</a:t>
            </a:r>
          </a:p>
          <a:p>
            <a:pPr>
              <a:spcAft>
                <a:spcPts val="900"/>
              </a:spcAft>
              <a:defRPr sz="1100">
                <a:solidFill>
                  <a:srgbClr val="1E293B"/>
                </a:solidFill>
              </a:defRPr>
            </a:pPr>
            <a:r>
              <a:t>• Consumer Demand Forecasting: EWMA (alpha=0.30) models daily mean demand across 800 corridors from 120-day empirical history. Validated via backtesting holdouts (MAE &amp; WAPE).</a:t>
            </a:r>
          </a:p>
          <a:p>
            <a:pPr>
              <a:spcAft>
                <a:spcPts val="900"/>
              </a:spcAft>
              <a:defRPr sz="1100">
                <a:solidFill>
                  <a:srgbClr val="1E293B"/>
                </a:solidFill>
              </a:defRPr>
            </a:pPr>
            <a:r>
              <a:t>• Lead-Time Demand (LTD): LTD = Daily Mean Demand x Route Lead Time in days across fastest eligible lane. Network sum: 28,745.44 units.</a:t>
            </a:r>
          </a:p>
          <a:p>
            <a:pPr>
              <a:spcAft>
                <a:spcPts val="900"/>
              </a:spcAft>
              <a:defRPr sz="1100">
                <a:solidFill>
                  <a:srgbClr val="1E293B"/>
                </a:solidFill>
              </a:defRPr>
            </a:pPr>
            <a:r>
              <a:t>• Dynamic Safety Stock (SS): SS = z x sigma x sqrt(L) under standard cycle-service level assumption (z=1.65, 95% cycle target; not guaranteed volume fill rate). Network sum: 10,744.93 units.</a:t>
            </a:r>
          </a:p>
          <a:p>
            <a:pPr>
              <a:spcAft>
                <a:spcPts val="900"/>
              </a:spcAft>
              <a:defRPr sz="1100">
                <a:solidFill>
                  <a:srgbClr val="1E293B"/>
                </a:solidFill>
              </a:defRPr>
            </a:pPr>
            <a:r>
              <a:t>• Replenishment Requirement: Total Demand = ceil(LTD + SS) = 39,878 units. Represents integer cartons needed to prevent stockouts over transit lead times.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92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4-Tier Inventory Accounting &amp; FEFO Policy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1. Physical On-Hand Units: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Gross warehouse physical stock recorded in warehouse bins.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2. Reserved Units: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Stock already earmarked for existing orders; strictly unavailable for new allocations.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3. Available Units: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On-Hand minus Reserved units. Upper bound before quality and expiry checks.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4. Usable Units (FEFO Strict):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Available stock filtered for quality: Quarantined batches (0 usable) and Expired batches (0 usable) are completely disqualified from allocation.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Google OR-Tools MIP Optimization Engine: Formulations &amp;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F172A"/>
                </a:solidFill>
              </a:defRPr>
            </a:pPr>
            <a:r>
              <a:t>Cost-First Profile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Minimizes pure transportation freight subject to a minimum fulfillment floor.</a:t>
            </a:r>
          </a:p>
          <a:p>
            <a:pPr>
              <a:spcAft>
                <a:spcPts val="800"/>
              </a:spcAft>
              <a:defRPr sz="1050" b="1">
                <a:solidFill>
                  <a:srgbClr val="0284C7"/>
                </a:solidFill>
              </a:defRPr>
            </a:pPr>
            <a:r>
              <a:t>min sum(c_wd * x) + sum(2*P * u)</a:t>
            </a:r>
            <a:br/>
            <a:r>
              <a:t>s.t. sum(x) &gt;= ceil(0.80 * Demand)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2*P unmet penalty. Bypassed if unconstrained opt-in. Trims high-cost lanes while exceeding 80% floor (delivers 90.18%).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3832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55448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F172A"/>
                </a:solidFill>
              </a:defRPr>
            </a:pPr>
            <a:r>
              <a:t>Service-First Profile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True Lexicographic 2-Stage Priority Solve: Maximizes fulfillment first, then minimizes cost.</a:t>
            </a:r>
          </a:p>
          <a:p>
            <a:pPr>
              <a:spcAft>
                <a:spcPts val="800"/>
              </a:spcAft>
              <a:defRPr sz="1050" b="1">
                <a:solidFill>
                  <a:srgbClr val="0284C7"/>
                </a:solidFill>
              </a:defRPr>
            </a:pPr>
            <a:r>
              <a:t>Stage 1: min sum(u) -&gt; yields u*</a:t>
            </a:r>
            <a:br/>
            <a:r>
              <a:t>Stage 2: min sum(c_wd * x) s.t. sum(u) &lt;= u*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Guarantees maximum customer service (91.74%) with globally optimal routing ($52,812.09).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371600"/>
            <a:ext cx="33832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F172A"/>
                </a:solidFill>
              </a:defRPr>
            </a:pPr>
            <a:r>
              <a:t>Balanced Profile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Multi-objective formulation balancing freight, transit speed, and lost-sales penalties.</a:t>
            </a:r>
          </a:p>
          <a:p>
            <a:pPr>
              <a:spcAft>
                <a:spcPts val="800"/>
              </a:spcAft>
              <a:defRPr sz="1050" b="1">
                <a:solidFill>
                  <a:srgbClr val="0284C7"/>
                </a:solidFill>
              </a:defRPr>
            </a:pPr>
            <a:r>
              <a:t>min sum[(c_wd + 0.20*T_wd)*x] + sum(5*P * u)</a:t>
            </a:r>
            <a:br/>
            <a:r>
              <a:t>Units: All terms in $/unit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Balances freight cost against product freshness (freshness penalty: $0.20/day/unit).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69848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3212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Mathematical Objective vs. Reported Freight Metric &amp; Hard Constraints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Objective value includes internal mathematical penalties (2*P*u, 0.20*T*x); reported total_transport_cost is strictly actual freight: sum(x * c_wd).</a:t>
            </a:r>
            <a:br/>
            <a:r>
              <a:t>• Enforced Hard Constraints: Warehouse usable supply bounds | Route eligibility &amp; delivery cutoffs | Warehouse dispatch caps (15k u/day) | Destination receiving caps (3k u/day) | Non-negative integers (x in Z+).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Empirical Benchmark Validation: Optimization vs. Greedy Baseline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049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Cost-First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Balanced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Service-First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Greedy Baseline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Solver 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OPTIMAL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OPTIMAL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OPTIMAL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HEURISTIC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Total Demand Considered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39,878 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39,878 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39,878 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39,878 u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Fulfilled Units (Rate 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35,963 u (90.18%)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36,583 u (91.74%)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36,583 u (91.74%)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36,583 u (91.74%)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Total Transportation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$50,150.99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$52,816.51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$52,812.09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$54,085.66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Avg Cost / Fulfilled Unit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$1.3945 / 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$1.4437 / 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$1.4436 / 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$1.4784 / 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Freight vs.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-$3,934.67 (-7.27%)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-$1,269.15 (-2.35%)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-$1,273.57 (-2.35%)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Baseline Reference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434840"/>
            <a:ext cx="10698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284C7"/>
                </a:solidFill>
              </a:defRPr>
            </a:pPr>
            <a:r>
              <a:t>Mathematical Analysis of Benchmark Findings (Deterministic Seed: 42)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1. Fulfillment Parity (91.74%): Service-First, Balanced, and Baseline all reach exactly 36,583 fulfilled units—the network's physical supply ceiling (3,295 units unmet due to network-wide SKU-0004 butter shortage).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2. Pure Routing Efficiency (-2.35%): Service-First fulfills the identical 36,583 units as the greedy heuristic for $52,812.09 vs. $54,085.66, saving $1,273.57 in pure freight through global multi-commodity allocation.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3. Cost-First Margin Protection (-7.27%): Cost-First saves $3,934.67 in freight by trimming 620 units (-1.56%) of margin-diluting long-haul deliveries while strictly exceeding the 80% fulfillment floor (delivering 90.18%).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Decision Explainability &amp; Independent 12-Invariant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</a:defRPr>
            </a:pPr>
            <a:r>
              <a:t>Independent 12-Invariant Solution Verifier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1. Strictly Positive Quantities (x &gt; 0)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2. Integer Allocations (x in Z+)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3. Usable Batch Status (0 for expired/quarantined)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4. Warehouse Supply Bounds (allocated &lt;= usable)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5. Demand Ceilings (no destination over-fulfillment)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6. Active Route Validity (inactive routes rejected)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7. Warehouse Dispatch Caps (&lt;= 15,000 u/day)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8. Destination Receiving Caps (&lt;= 3,000 u/day)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9. Delivery Lead-Time Cutoff Compliance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10. Batch Arrival Shelf-Life Feasibility Check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11. Demand Reconciliation (Fulfilled + Unmet == Demanded)</a:t>
            </a:r>
          </a:p>
          <a:p>
            <a:pPr>
              <a:defRPr sz="1050">
                <a:solidFill>
                  <a:srgbClr val="16A34A"/>
                </a:solidFill>
              </a:defRPr>
            </a:pPr>
            <a:r>
              <a:t>✓ 12. Independent Total Cost Recalculation (sum(x * c) == Cost)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71600"/>
            <a:ext cx="4937760" cy="4892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55448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</a:defRPr>
            </a:pPr>
            <a:r>
              <a:t>Driver-Based Decision Attribution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• No Hallucinated Rationale: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  Explanations cite only exact numbers from the solver contract (stock volume, route lead time, freight cost).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• Source Attribution: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  Identifies winning warehouse based on verified available inventory and lowest-cost eligible transit.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• Rejection Justifications: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  Explicitly details why competing warehouses were rejected (e.g. WH-04 rejected due to stock exhaustion, WH-02 rejected due to +$0.45/u freight penalty).</a:t>
            </a:r>
          </a:p>
          <a:p>
            <a:pPr>
              <a:defRPr sz="1150" b="1">
                <a:solidFill>
                  <a:srgbClr val="0284C7"/>
                </a:solidFill>
              </a:defRPr>
            </a:pPr>
            <a:r>
              <a:t>• Root-Cause Deficit Explanations: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  When unmet demand occurs, attributes the deficit to physical supply depletion rather than route cutoffs.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5-Minute Interactive Live Demonstration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01. Overview Control Tower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Target Time: 0:00 - 0:45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Verify LOCAL-FIRST status, multi-echelon network scope (4 WH, 16 SKUs, 50 Destinations), and warehouse capacity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5544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02. Inventory Explorer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Target Time: 0:45 - 1:30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Audit 4-tier inventory ledger. Filter by QUARANTINED to prove that quarantined batches show 0 Usable units and are excluded.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37160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03. Demand Forecasting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Target Time: 1:30 - 2:15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Select Corridor SKU-0001 (Whole Milk) -&gt; DST-01 (Sacramento). Run EWMA (alpha=0.30) 7-day forecast. Display Recharts curve and backtest holdout evaluation (MAE/WAPE).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04. Replenishment Planner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Target Time: 2:15 - 3:00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Review stockout urgency tiers. Highlight GAP-1 / GAP-2 operational notices. Open explanation drawer showing LTD and Safety Stock math.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84048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40233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05. Local OR-Tools Solver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Target Time: 3:00 - 3:45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Execute Balanced profile. Showcase sub-second solve (0.20s), OPTIMAL status, Verifier: Feasible badge, and shipment schedule.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84048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233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06. Scenario Matrix &amp; Export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Target Time: 3:45 - 5:00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Run 3-profile comparison matrix proving cost vs service trade-offs. Download RFC 4180 CSV export with formula injection sanitization.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STOCKWISE AI | TRIWIZATHON PS-2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Architectural Disclosures &amp; Production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92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</a:defRPr>
            </a:pPr>
            <a:r>
              <a:t>Current Limitations &amp; Disclosures</a:t>
            </a:r>
          </a:p>
          <a:p>
            <a:pPr>
              <a:defRPr sz="1100" b="1">
                <a:solidFill>
                  <a:srgbClr val="B91C1C"/>
                </a:solidFill>
              </a:defRPr>
            </a:pPr>
            <a:r>
              <a:t>• Simulated FMCG Dataset: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Synthetic network (seed 42) reflects realistic FMCG dynamics, but results represent simulated benchmarks rather than realized enterprise savings.</a:t>
            </a:r>
          </a:p>
          <a:p>
            <a:pPr>
              <a:defRPr sz="1100" b="1">
                <a:solidFill>
                  <a:srgbClr val="B91C1C"/>
                </a:solidFill>
              </a:defRPr>
            </a:pPr>
            <a:r>
              <a:t>• GAP-1: Destination Inventory Unmodeled: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Retail stores currently modeled with 0 initial inventory; demand represents gross replenishment needed over lead time.</a:t>
            </a:r>
          </a:p>
          <a:p>
            <a:pPr>
              <a:defRPr sz="1100" b="1">
                <a:solidFill>
                  <a:srgbClr val="B91C1C"/>
                </a:solidFill>
              </a:defRPr>
            </a:pPr>
            <a:r>
              <a:t>• GAP-2: In-Transit Pipeline Unmodeled: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Prior in-transit shipments not tracked in current schema; treated as 0 incoming units.</a:t>
            </a:r>
          </a:p>
          <a:p>
            <a:pPr>
              <a:defRPr sz="1100" b="1">
                <a:solidFill>
                  <a:srgbClr val="B91C1C"/>
                </a:solidFill>
              </a:defRPr>
            </a:pPr>
            <a:r>
              <a:t>• Store-Level Expiry Unmodeled: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Warehouse expiry strictly enforced (FEFO); store POS shelf spoilage unmodeled and honestly labeled 'Not Modeled'.</a:t>
            </a:r>
          </a:p>
          <a:p>
            <a:pPr>
              <a:defRPr sz="1100" b="1">
                <a:solidFill>
                  <a:srgbClr val="B91C1C"/>
                </a:solidFill>
              </a:defRPr>
            </a:pPr>
            <a:r>
              <a:t>• Advisory Planning: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Produces human decision support; does not trigger physical dispatches without planner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F172A"/>
                </a:solidFill>
              </a:defRPr>
            </a:pPr>
            <a:r>
              <a:t>Production Next Steps (Roadmap)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1. Real-Time ERP &amp; WMS Connectors: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Direct connectors to SAP / Oracle SCM to ingest live inventory lots, batch statuses, and confirmed dispatch streams.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2. Store-Level POS &amp; Shrinkage Ingestion: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Close GAP-1 by tracking store backroom on-hand stock and actual register checkout velocities.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3. GPS Telematics Pipeline: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Close GAP-2 by streaming live in-transit truck positions and real-time highway delay re-routing.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4. Multi-Period Rolling Horizon MIP: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Extend static single-period optimization into a multi-echelon 14-day rolling horizon MILP with inventory carryover.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5. Automated WMS Dispatch Execution: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  Trigger automated ASN (Advanced Shipping Notice) webhooks upon supply chain planner approval.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