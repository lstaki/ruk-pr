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9601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284C7"/>
                </a:solidFill>
              </a:defRPr>
            </a:pPr>
            <a:r>
              <a:t>TRIWIZATHON PROBLEM STATEMENT 2</a:t>
            </a:r>
          </a:p>
          <a:p>
            <a:pPr>
              <a:spcAft>
                <a:spcPts val="1400"/>
              </a:spcAft>
              <a:defRPr sz="4400" b="1">
                <a:solidFill>
                  <a:srgbClr val="FFFFFF"/>
                </a:solidFill>
              </a:defRPr>
            </a:pPr>
            <a:r>
              <a:t>StockWise AI</a:t>
            </a:r>
          </a:p>
          <a:p>
            <a:pPr>
              <a:spcAft>
                <a:spcPts val="1800"/>
              </a:spcAft>
              <a:defRPr sz="2000">
                <a:solidFill>
                  <a:srgbClr val="E2E8F0"/>
                </a:solidFill>
              </a:defRPr>
            </a:pPr>
            <a:r>
              <a:t>AI-Powered FMCG Distribution Intelligence &amp; Inventory Optimization Engine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A local-first, mathematically sound decision engine connecting demand forecasting, multi-echelon replenishment, and constraint-aware Mixed-Integer Programming.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30352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Architecture: Next.js 15 | FastAPI | Google OR-Tools | SQLite3 | 12-Invariant Mathematical Verifier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STOCKWISE AI | TRIWIZATHON PS-2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The FMCG Operational Problem: Multi-Variable Distribution Dilemma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2194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00200"/>
            <a:ext cx="4572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01. Demand Volatility Across Corridors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Consumer order rates swing dynamically across retail tiers (hypermarkets, supermarkets, mom-and-pop bodegas) with pronounced day-of-week seasonality and Poisson order clustering.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371600"/>
            <a:ext cx="5120640" cy="2194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00200"/>
            <a:ext cx="4572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02. Uneven Multi-Echelon Stock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Regional warehouses experience severe inventory imbalances: central hubs hold surplus while peripheral hubs risk imminent stockouts on high-velocity SKUs.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5120640" cy="2194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069080"/>
            <a:ext cx="4572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03. Perishable Expiry &amp; FEFO Pressure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Shipping older batches across slow transit routes risks arrival with insufficient shelf life, generating retail shrinkage and FMCG distributor return penalties.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3840480"/>
            <a:ext cx="5120640" cy="2194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069080"/>
            <a:ext cx="4572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04. Transport Cost vs. Service Level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Expedited deliveries prevent store stockouts but erode FMCG operating margins. Planners must balance freight budgets against customer fulfillment guarantees.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STOCKWISE AI | TRIWIZATHON PS-2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StockWise AI Solution: Closed-Loop Distribution Intelligence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0116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17373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284C7"/>
                </a:solidFill>
              </a:defRPr>
            </a:pPr>
            <a:r>
              <a:t>1. Demand Forecasting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EWMA, Naive &amp; Seasonal-Naive over 800 corridors with backtesting validation (MAE &amp; WAPE).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80360" y="1645920"/>
            <a:ext cx="20116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17520" y="1828800"/>
            <a:ext cx="17373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284C7"/>
                </a:solidFill>
              </a:defRPr>
            </a:pPr>
            <a:r>
              <a:t>2. Replenishment Calculation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Lead-time demand + dynamic safety stock (z=1.65) to compute exact carton replenishment thresholds.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645920"/>
            <a:ext cx="20116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66360" y="1828800"/>
            <a:ext cx="17373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284C7"/>
                </a:solidFill>
              </a:defRPr>
            </a:pPr>
            <a:r>
              <a:t>3. Constraint-Aware MIP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Google OR-Tools solver evaluating physical stock, throughput limits, and delivery cutoffs.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78040" y="1645920"/>
            <a:ext cx="20116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0" y="1828800"/>
            <a:ext cx="17373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284C7"/>
                </a:solidFill>
              </a:defRPr>
            </a:pPr>
            <a:r>
              <a:t>4. Independent Verification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12-invariant external verifier guarantees feasibility before any plan is presented.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26880" y="1645920"/>
            <a:ext cx="20116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64040" y="1828800"/>
            <a:ext cx="17373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284C7"/>
                </a:solidFill>
              </a:defRPr>
            </a:pPr>
            <a:r>
              <a:t>5. Explainable Execution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Driver-based natural language attribution and RFC 4180 CSV export for supply chain planners.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STOCKWISE AI | TRIWIZATHON PS-2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Local-First Enterprise 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6858000" cy="868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6492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Presentation Layer (Next.js 15 App Router)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React 19, TypeScript strict mode, TanStack React Query v5, Recharts, Tailwind CSS tokens. 7 interactive operational control towers.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77440"/>
            <a:ext cx="6858000" cy="868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6492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API Services Layer (FastAPI Asynchronous Backend)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Pydantic v2 schemas, OpenAPI/Swagger contracts, RFC 4180 / OWASP CSV sanitization, planning run management.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383280"/>
            <a:ext cx="6858000" cy="868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474720"/>
            <a:ext cx="6492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Analytical Engines Layer (Forecasting &amp; Replenishment)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EWMA / Naive / Seasonal Naive models, lead-time demand scaling, dynamic safety stock, stockout risk banding.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389120"/>
            <a:ext cx="6858000" cy="868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480560"/>
            <a:ext cx="6492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Optimization &amp; Verification Layer (OR-Tools MIP &amp; Verifier)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Google OR-Tools branch-and-cut linear solver, 3 multi-objective profiles, independent 12-invariant mathematical auditor.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394960"/>
            <a:ext cx="6858000" cy="868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486400"/>
            <a:ext cx="6492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Persistence Layer (Relational SQLite3 &amp; Alembic)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Master data, routes, batch-level inventory, 96k demand history records, persisted planning runs, and shipment audit trails.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1371600"/>
            <a:ext cx="356616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1554480"/>
            <a:ext cx="3200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F172A"/>
                </a:solidFill>
              </a:defRPr>
            </a:pPr>
            <a:r>
              <a:t>Key Architectural Pillars</a:t>
            </a:r>
          </a:p>
          <a:p>
            <a:pPr>
              <a:defRPr sz="1100" b="1">
                <a:solidFill>
                  <a:srgbClr val="0284C7"/>
                </a:solidFill>
              </a:defRPr>
            </a:pPr>
            <a:r>
              <a:t>• Strict Plan Decoupling: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</a:defRPr>
            </a:pPr>
            <a:r>
              <a:t>  Advisory plans in PlanningRun never mutate base inventory items in InventoryItem.</a:t>
            </a:r>
          </a:p>
          <a:p>
            <a:pPr>
              <a:defRPr sz="1100" b="1">
                <a:solidFill>
                  <a:srgbClr val="0284C7"/>
                </a:solidFill>
              </a:defRPr>
            </a:pPr>
            <a:r>
              <a:t>• 100% Deterministic Seed: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</a:defRPr>
            </a:pPr>
            <a:r>
              <a:t>  Seed 42 generates identical coordinates, routes, and batch expiries on every clean run.</a:t>
            </a:r>
          </a:p>
          <a:p>
            <a:pPr>
              <a:defRPr sz="1100" b="1">
                <a:solidFill>
                  <a:srgbClr val="0284C7"/>
                </a:solidFill>
              </a:defRPr>
            </a:pPr>
            <a:r>
              <a:t>• Independent Greedy Baseline: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</a:defRPr>
            </a:pPr>
            <a:r>
              <a:t>  Built-in heuristic comparator evaluates identical constraints without solver bias.</a:t>
            </a:r>
          </a:p>
          <a:p>
            <a:pPr>
              <a:defRPr sz="1100" b="1">
                <a:solidFill>
                  <a:srgbClr val="0284C7"/>
                </a:solidFill>
              </a:defRPr>
            </a:pPr>
            <a:r>
              <a:t>• Offline &amp; Local-First: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</a:defRPr>
            </a:pPr>
            <a:r>
              <a:t>  Zero external cloud or LLM dependencies. Operates seamlessly in secure air-gapped environments.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STOCKWISE AI | TRIWIZATHON PS-2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Demand Forecasting &amp; Inventory Accounting Intelligence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Forecasting vs. Replenishment Derivation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Consumer Demand Forecasting: EWMA (alpha=0.30) models daily mean demand across 800 corridors from 120-day empirical history. Validated via backtesting holdouts (MAE &amp; WAPE).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Lead-Time Demand (LTD): LTD = Daily Mean Demand x Route Lead Time in days across fastest eligible lane. Network sum: 28,745.44 units.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Dynamic Safety Stock (SS): SS = z x sigma x sqrt(L) with 95% service level factor (z=1.65). Buffers demand &amp; lead-time variance. Network sum: 10,744.93 units.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Replenishment Requirement: Total Demand = ceil(LTD + SS) = 39,878 units. Represents integer cartons needed to prevent stockouts over transit lead times.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4892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4-Tier Inventory Accounting &amp; FEFO Policy</a:t>
            </a:r>
          </a:p>
          <a:p>
            <a:pPr>
              <a:defRPr sz="1100" b="1">
                <a:solidFill>
                  <a:srgbClr val="0284C7"/>
                </a:solidFill>
              </a:defRPr>
            </a:pPr>
            <a:r>
              <a:t>1. Physical On-Hand Units: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Gross warehouse physical stock recorded in warehouse bins.</a:t>
            </a:r>
          </a:p>
          <a:p>
            <a:pPr>
              <a:defRPr sz="1100" b="1">
                <a:solidFill>
                  <a:srgbClr val="0284C7"/>
                </a:solidFill>
              </a:defRPr>
            </a:pPr>
            <a:r>
              <a:t>2. Reserved Units: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Stock already earmarked for existing orders; strictly unavailable for new allocations.</a:t>
            </a:r>
          </a:p>
          <a:p>
            <a:pPr>
              <a:defRPr sz="1100" b="1">
                <a:solidFill>
                  <a:srgbClr val="0284C7"/>
                </a:solidFill>
              </a:defRPr>
            </a:pPr>
            <a:r>
              <a:t>3. Available Units: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On-Hand minus Reserved units. Upper bound before quality and expiry checks.</a:t>
            </a:r>
          </a:p>
          <a:p>
            <a:pPr>
              <a:defRPr sz="1100" b="1">
                <a:solidFill>
                  <a:srgbClr val="0284C7"/>
                </a:solidFill>
              </a:defRPr>
            </a:pPr>
            <a:r>
              <a:t>4. Usable Units (FEFO Strict):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Available stock filtered for quality: Quarantined batches (0 usable) and Expired batches (0 usable) are completely disqualified from allocation.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STOCKWISE AI | TRIWIZATHON PS-2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Google OR-Tools MIP Optimization Engine: Formulations &amp; Constraints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8328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3017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0F172A"/>
                </a:solidFill>
              </a:defRPr>
            </a:pPr>
            <a:r>
              <a:t>Cost-First Profile</a:t>
            </a:r>
          </a:p>
          <a:p>
            <a:pPr>
              <a:spcAft>
                <a:spcPts val="1000"/>
              </a:spcAft>
              <a:defRPr sz="1000">
                <a:solidFill>
                  <a:srgbClr val="64748B"/>
                </a:solidFill>
              </a:defRPr>
            </a:pPr>
            <a:r>
              <a:t>Minimizes pure transportation freight subject to a minimum fulfillment floor.</a:t>
            </a:r>
          </a:p>
          <a:p>
            <a:pPr>
              <a:spcAft>
                <a:spcPts val="1000"/>
              </a:spcAft>
              <a:defRPr sz="950" b="1">
                <a:solidFill>
                  <a:srgbClr val="0284C7"/>
                </a:solidFill>
              </a:defRPr>
            </a:pPr>
            <a:r>
              <a:t>min sum(c_wd * x) + sum(2 * P * u)</a:t>
            </a:r>
            <a:br/>
            <a:r>
              <a:t>s.t. sum(x) &gt;= 80% Total Demand</a:t>
            </a:r>
          </a:p>
          <a:p>
            <a:pPr>
              <a:spcAft>
                <a:spcPts val="1200"/>
              </a:spcAft>
              <a:defRPr sz="1000">
                <a:solidFill>
                  <a:srgbClr val="1E293B"/>
                </a:solidFill>
              </a:defRPr>
            </a:pPr>
            <a:r>
              <a:t>Optimizes logistics efficiency while preventing arbitrary network starvation.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Hard Constraints Enforced:</a:t>
            </a:r>
            <a:br/>
            <a:r>
              <a:t>• Warehouse usable supply bounds</a:t>
            </a:r>
            <a:br/>
            <a:r>
              <a:t>• Destination receiving caps (3,000 u/day)</a:t>
            </a:r>
            <a:br/>
            <a:r>
              <a:t>• Warehouse dispatch caps (15,000 u/day)</a:t>
            </a:r>
            <a:br/>
            <a:r>
              <a:t>• Active route &amp; lead-time cutoffs</a:t>
            </a:r>
            <a:br/>
            <a:r>
              <a:t>• Batch arrival shelf-life feasibility</a:t>
            </a:r>
            <a:br/>
            <a:r>
              <a:t>• Non-negative integers (x in Z+)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371600"/>
            <a:ext cx="338328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0" y="1554480"/>
            <a:ext cx="3017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0F172A"/>
                </a:solidFill>
              </a:defRPr>
            </a:pPr>
            <a:r>
              <a:t>Service-First Profile</a:t>
            </a:r>
          </a:p>
          <a:p>
            <a:pPr>
              <a:spcAft>
                <a:spcPts val="1000"/>
              </a:spcAft>
              <a:defRPr sz="1000">
                <a:solidFill>
                  <a:srgbClr val="64748B"/>
                </a:solidFill>
              </a:defRPr>
            </a:pPr>
            <a:r>
              <a:t>True Lexicographic 2-Stage Solve: Maximizes fulfillment first, then minimizes cost.</a:t>
            </a:r>
          </a:p>
          <a:p>
            <a:pPr>
              <a:spcAft>
                <a:spcPts val="1000"/>
              </a:spcAft>
              <a:defRPr sz="950" b="1">
                <a:solidFill>
                  <a:srgbClr val="0284C7"/>
                </a:solidFill>
              </a:defRPr>
            </a:pPr>
            <a:r>
              <a:t>Stage 1: min sum(u) -&gt; yields u*</a:t>
            </a:r>
            <a:br/>
            <a:r>
              <a:t>Stage 2: min sum(c_wd * x) s.t. sum(u) &lt;= u*</a:t>
            </a:r>
          </a:p>
          <a:p>
            <a:pPr>
              <a:spcAft>
                <a:spcPts val="1200"/>
              </a:spcAft>
              <a:defRPr sz="1000">
                <a:solidFill>
                  <a:srgbClr val="1E293B"/>
                </a:solidFill>
              </a:defRPr>
            </a:pPr>
            <a:r>
              <a:t>Guarantees maximum customer service (91.74%) with globally optimal routing.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Hard Constraints Enforced:</a:t>
            </a:r>
            <a:br/>
            <a:r>
              <a:t>• Warehouse usable supply bounds</a:t>
            </a:r>
            <a:br/>
            <a:r>
              <a:t>• Destination receiving caps (3,000 u/day)</a:t>
            </a:r>
            <a:br/>
            <a:r>
              <a:t>• Warehouse dispatch caps (15,000 u/day)</a:t>
            </a:r>
            <a:br/>
            <a:r>
              <a:t>• Active route &amp; lead-time cutoffs</a:t>
            </a:r>
            <a:br/>
            <a:r>
              <a:t>• Batch arrival shelf-life feasibility</a:t>
            </a:r>
            <a:br/>
            <a:r>
              <a:t>• Non-negative integers (x in Z+)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371600"/>
            <a:ext cx="338328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1554480"/>
            <a:ext cx="3017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0F172A"/>
                </a:solidFill>
              </a:defRPr>
            </a:pPr>
            <a:r>
              <a:t>Balanced Profile</a:t>
            </a:r>
          </a:p>
          <a:p>
            <a:pPr>
              <a:spcAft>
                <a:spcPts val="1000"/>
              </a:spcAft>
              <a:defRPr sz="1000">
                <a:solidFill>
                  <a:srgbClr val="64748B"/>
                </a:solidFill>
              </a:defRPr>
            </a:pPr>
            <a:r>
              <a:t>Multi-objective formulation balancing freight, transit speed, and lost-sales penalties.</a:t>
            </a:r>
          </a:p>
          <a:p>
            <a:pPr>
              <a:spcAft>
                <a:spcPts val="1000"/>
              </a:spcAft>
              <a:defRPr sz="950" b="1">
                <a:solidFill>
                  <a:srgbClr val="0284C7"/>
                </a:solidFill>
              </a:defRPr>
            </a:pPr>
            <a:r>
              <a:t>min sum[(c_wd + lambda_LT * T_wd) * x] + sum(5 * P * u)</a:t>
            </a:r>
            <a:br/>
            <a:r>
              <a:t>Units: All terms in $/unit</a:t>
            </a:r>
          </a:p>
          <a:p>
            <a:pPr>
              <a:spcAft>
                <a:spcPts val="1200"/>
              </a:spcAft>
              <a:defRPr sz="1000">
                <a:solidFill>
                  <a:srgbClr val="1E293B"/>
                </a:solidFill>
              </a:defRPr>
            </a:pPr>
            <a:r>
              <a:t>Balances freight cost against product freshness (freshness penalty: $0.20/day/unit).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Hard Constraints Enforced:</a:t>
            </a:r>
            <a:br/>
            <a:r>
              <a:t>• Warehouse usable supply bounds</a:t>
            </a:r>
            <a:br/>
            <a:r>
              <a:t>• Destination receiving caps (3,000 u/day)</a:t>
            </a:r>
            <a:br/>
            <a:r>
              <a:t>• Warehouse dispatch caps (15,000 u/day)</a:t>
            </a:r>
            <a:br/>
            <a:r>
              <a:t>• Active route &amp; lead-time cutoffs</a:t>
            </a:r>
            <a:br/>
            <a:r>
              <a:t>• Batch arrival shelf-life feasibility</a:t>
            </a:r>
            <a:br/>
            <a:r>
              <a:t>• Non-negative integers (x in Z+)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STOCKWISE AI | TRIWIZATHON PS-2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Empirical Benchmark Validation: Optimization vs. Greedy Baseline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6984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9696"/>
                <a:gridCol w="2139696"/>
                <a:gridCol w="2139696"/>
                <a:gridCol w="2139696"/>
                <a:gridCol w="2139696"/>
              </a:tblGrid>
              <a:tr h="391885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Cost-First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Balanced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Service-First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Greedy Baseline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Solver Status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OPTIMAL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OPTIMAL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OPTIMAL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HEURISTIC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Total Demand Considered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39,878 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39,878 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39,878 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39,878 u</a:t>
                      </a:r>
                    </a:p>
                  </a:txBody>
                  <a:tcPr/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Fulfilled Units (Rate %)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35,963 u (90.18%)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36,583 u (91.74%)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36,583 u (91.74%)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36,583 u (91.74%)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Total Transportation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$50,150.99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$52,816.51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$52,812.09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$54,085.66</a:t>
                      </a:r>
                    </a:p>
                  </a:txBody>
                  <a:tcPr/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Avg Cost / Fulfilled Unit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$1.3945 / u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$1.4437 / u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$1.4436 / u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$1.4784 / u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9189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Freight vs.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-$3,934.67 (-7.27%)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-$1,269.15 (-2.35%)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-$1,273.57 (-2.35%)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Baseline Reference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4389120"/>
            <a:ext cx="1069848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48056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284C7"/>
                </a:solidFill>
              </a:defRPr>
            </a:pPr>
            <a:r>
              <a:t>Mathematical Analysis of Benchmark Findings (Deterministic Seed: 42)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1. Fulfillment Parity (91.74%): Service-First, Balanced, and Baseline all reach exactly 36,583 fulfilled units—the network's physical supply ceiling (3,295 units unmet due to network-wide SKU-0004 butter shortage).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2. Pure Routing Efficiency (-2.35%): Service-First fulfills the identical 36,583 units as the greedy heuristic for $52,812.09 vs. $54,085.66, saving $1,273.57 in pure freight through global multi-commodity allocation.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3. Cost-First Margin Protection (-7.27%): Cost-First saves $3,934.67 in freight by trimming 620 units (-1.56%) of margin-diluting long-haul deliveries while strictly exceeding the 80% fulfillment floor (delivering 90.18%).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STOCKWISE AI | TRIWIZATHON PS-2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Decision Explainability &amp; Independent 12-Invariant Verification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48640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F172A"/>
                </a:solidFill>
              </a:defRPr>
            </a:pPr>
            <a:r>
              <a:t>Independent 12-Invariant Solution Verifier</a:t>
            </a:r>
          </a:p>
          <a:p>
            <a:pPr>
              <a:defRPr sz="950">
                <a:solidFill>
                  <a:srgbClr val="16A34A"/>
                </a:solidFill>
              </a:defRPr>
            </a:pPr>
            <a:r>
              <a:t>✓ 1. Strictly Positive Quantities (x &gt; 0)</a:t>
            </a:r>
          </a:p>
          <a:p>
            <a:pPr>
              <a:defRPr sz="950">
                <a:solidFill>
                  <a:srgbClr val="16A34A"/>
                </a:solidFill>
              </a:defRPr>
            </a:pPr>
            <a:r>
              <a:t>✓ 2. Integer Allocations (x in Z+)</a:t>
            </a:r>
          </a:p>
          <a:p>
            <a:pPr>
              <a:defRPr sz="950">
                <a:solidFill>
                  <a:srgbClr val="16A34A"/>
                </a:solidFill>
              </a:defRPr>
            </a:pPr>
            <a:r>
              <a:t>✓ 3. Usable Batch Status (0 for expired/quarantined)</a:t>
            </a:r>
          </a:p>
          <a:p>
            <a:pPr>
              <a:defRPr sz="950">
                <a:solidFill>
                  <a:srgbClr val="16A34A"/>
                </a:solidFill>
              </a:defRPr>
            </a:pPr>
            <a:r>
              <a:t>✓ 4. Warehouse Supply Bounds (allocated &lt;= usable)</a:t>
            </a:r>
          </a:p>
          <a:p>
            <a:pPr>
              <a:defRPr sz="950">
                <a:solidFill>
                  <a:srgbClr val="16A34A"/>
                </a:solidFill>
              </a:defRPr>
            </a:pPr>
            <a:r>
              <a:t>✓ 5. Demand Ceilings (no destination over-fulfillment)</a:t>
            </a:r>
          </a:p>
          <a:p>
            <a:pPr>
              <a:defRPr sz="950">
                <a:solidFill>
                  <a:srgbClr val="16A34A"/>
                </a:solidFill>
              </a:defRPr>
            </a:pPr>
            <a:r>
              <a:t>✓ 6. Active Route Validity (inactive routes rejected)</a:t>
            </a:r>
          </a:p>
          <a:p>
            <a:pPr>
              <a:defRPr sz="950">
                <a:solidFill>
                  <a:srgbClr val="16A34A"/>
                </a:solidFill>
              </a:defRPr>
            </a:pPr>
            <a:r>
              <a:t>✓ 7. Warehouse Dispatch Caps (&lt;= 15,000 u/day)</a:t>
            </a:r>
          </a:p>
          <a:p>
            <a:pPr>
              <a:defRPr sz="950">
                <a:solidFill>
                  <a:srgbClr val="16A34A"/>
                </a:solidFill>
              </a:defRPr>
            </a:pPr>
            <a:r>
              <a:t>✓ 8. Destination Receiving Caps (&lt;= 3,000 u/day)</a:t>
            </a:r>
          </a:p>
          <a:p>
            <a:pPr>
              <a:defRPr sz="950">
                <a:solidFill>
                  <a:srgbClr val="16A34A"/>
                </a:solidFill>
              </a:defRPr>
            </a:pPr>
            <a:r>
              <a:t>✓ 9. Delivery Lead-Time Cutoff Compliance</a:t>
            </a:r>
          </a:p>
          <a:p>
            <a:pPr>
              <a:defRPr sz="950">
                <a:solidFill>
                  <a:srgbClr val="16A34A"/>
                </a:solidFill>
              </a:defRPr>
            </a:pPr>
            <a:r>
              <a:t>✓ 10. Batch Arrival Shelf-Life Feasibility Check</a:t>
            </a:r>
          </a:p>
          <a:p>
            <a:pPr>
              <a:defRPr sz="950">
                <a:solidFill>
                  <a:srgbClr val="16A34A"/>
                </a:solidFill>
              </a:defRPr>
            </a:pPr>
            <a:r>
              <a:t>✓ 11. Demand Reconciliation (Fulfilled + Unmet == Demanded)</a:t>
            </a:r>
          </a:p>
          <a:p>
            <a:pPr>
              <a:defRPr sz="950">
                <a:solidFill>
                  <a:srgbClr val="16A34A"/>
                </a:solidFill>
              </a:defRPr>
            </a:pPr>
            <a:r>
              <a:t>✓ 12. Independent Total Cost Recalculation (sum(x * c) == Cost)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371600"/>
            <a:ext cx="4937760" cy="4892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155448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Driver-Based Decision Attribution</a:t>
            </a:r>
          </a:p>
          <a:p>
            <a:pPr>
              <a:defRPr sz="1050" b="1">
                <a:solidFill>
                  <a:srgbClr val="0284C7"/>
                </a:solidFill>
              </a:defRPr>
            </a:pPr>
            <a:r>
              <a:t>• No Hallucinated Rationale: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</a:defRPr>
            </a:pPr>
            <a:r>
              <a:t>  Explanations cite only exact numbers from the solver contract (stock volume, route lead time, freight cost).</a:t>
            </a:r>
          </a:p>
          <a:p>
            <a:pPr>
              <a:defRPr sz="1050" b="1">
                <a:solidFill>
                  <a:srgbClr val="0284C7"/>
                </a:solidFill>
              </a:defRPr>
            </a:pPr>
            <a:r>
              <a:t>• Source Attribution: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</a:defRPr>
            </a:pPr>
            <a:r>
              <a:t>  Identifies winning warehouse based on verified available inventory and lowest-cost eligible transit.</a:t>
            </a:r>
          </a:p>
          <a:p>
            <a:pPr>
              <a:defRPr sz="1050" b="1">
                <a:solidFill>
                  <a:srgbClr val="0284C7"/>
                </a:solidFill>
              </a:defRPr>
            </a:pPr>
            <a:r>
              <a:t>• Rejection Justifications: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</a:defRPr>
            </a:pPr>
            <a:r>
              <a:t>  Explicitly details why competing warehouses were rejected (e.g. WH-04 rejected due to stock exhaustion, WH-02 rejected due to +$0.45/u freight penalty).</a:t>
            </a:r>
          </a:p>
          <a:p>
            <a:pPr>
              <a:defRPr sz="1050" b="1">
                <a:solidFill>
                  <a:srgbClr val="0284C7"/>
                </a:solidFill>
              </a:defRPr>
            </a:pPr>
            <a:r>
              <a:t>• Root-Cause Deficit Explanations: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</a:defRPr>
            </a:pPr>
            <a:r>
              <a:t>  When unmet demand occurs, attributes the deficit to physical supply depletion rather than route cutoffs.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STOCKWISE AI | TRIWIZATHON PS-2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5-Minute Interactive Live Demonstration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832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01. Overview Control Tower</a:t>
            </a:r>
          </a:p>
          <a:p>
            <a:pPr>
              <a:spcAft>
                <a:spcPts val="600"/>
              </a:spcAft>
              <a:defRPr sz="950" b="1">
                <a:solidFill>
                  <a:srgbClr val="0284C7"/>
                </a:solidFill>
              </a:defRPr>
            </a:pPr>
            <a:r>
              <a:t>Target Time: 0:00 - 0:45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Verify LOCAL-FIRST status, multi-echelon network scope (4 WH, 16 SKUs, 50 Destinations), and warehouse capacity telemetry.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371600"/>
            <a:ext cx="33832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0" y="155448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02. Inventory Explorer</a:t>
            </a:r>
          </a:p>
          <a:p>
            <a:pPr>
              <a:spcAft>
                <a:spcPts val="600"/>
              </a:spcAft>
              <a:defRPr sz="950" b="1">
                <a:solidFill>
                  <a:srgbClr val="0284C7"/>
                </a:solidFill>
              </a:defRPr>
            </a:pPr>
            <a:r>
              <a:t>Target Time: 0:45 - 1:30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Audit 4-tier inventory ledger. Filter by QUARANTINED to prove that quarantined batches show 0 Usable units and are excluded.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371600"/>
            <a:ext cx="33832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155448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03. Demand Forecasting</a:t>
            </a:r>
          </a:p>
          <a:p>
            <a:pPr>
              <a:spcAft>
                <a:spcPts val="600"/>
              </a:spcAft>
              <a:defRPr sz="950" b="1">
                <a:solidFill>
                  <a:srgbClr val="0284C7"/>
                </a:solidFill>
              </a:defRPr>
            </a:pPr>
            <a:r>
              <a:t>Target Time: 1:30 - 2:15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Select corridor PRD-MILK -&gt; DST-001. Run EWMA (alpha=0.30) 7-day forecast. Display Recharts projection curve and backtest holdout evaluation (MAE/WAPE).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33832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02336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04. Replenishment Planner</a:t>
            </a:r>
          </a:p>
          <a:p>
            <a:pPr>
              <a:spcAft>
                <a:spcPts val="600"/>
              </a:spcAft>
              <a:defRPr sz="950" b="1">
                <a:solidFill>
                  <a:srgbClr val="0284C7"/>
                </a:solidFill>
              </a:defRPr>
            </a:pPr>
            <a:r>
              <a:t>Target Time: 2:15 - 3:00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Review stockout urgency tiers. Highlight GAP-1 / GAP-2 operational notices. Open explanation drawer showing LTD and Safety Stock math.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3840480"/>
            <a:ext cx="33832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402336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05. Local OR-Tools Solver</a:t>
            </a:r>
          </a:p>
          <a:p>
            <a:pPr>
              <a:spcAft>
                <a:spcPts val="600"/>
              </a:spcAft>
              <a:defRPr sz="950" b="1">
                <a:solidFill>
                  <a:srgbClr val="0284C7"/>
                </a:solidFill>
              </a:defRPr>
            </a:pPr>
            <a:r>
              <a:t>Target Time: 3:00 - 3:45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Execute Balanced profile. Showcase sub-second solve (0.20s), OPTIMAL status, Verifier: Feasible badge, and shipment schedule.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3840480"/>
            <a:ext cx="33832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402336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06. Scenario Matrix &amp; Export</a:t>
            </a:r>
          </a:p>
          <a:p>
            <a:pPr>
              <a:spcAft>
                <a:spcPts val="600"/>
              </a:spcAft>
              <a:defRPr sz="950" b="1">
                <a:solidFill>
                  <a:srgbClr val="0284C7"/>
                </a:solidFill>
              </a:defRPr>
            </a:pPr>
            <a:r>
              <a:t>Target Time: 3:45 - 5:00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Run 3-profile comparison matrix proving cost vs service trade-offs. Download RFC 4180 CSV export with formula injection sanitization.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STOCKWISE AI | TRIWIZATHON PS-2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Architectural Disclosures &amp; Production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12080" cy="4892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Current Limitations &amp; Disclosures</a:t>
            </a:r>
          </a:p>
          <a:p>
            <a:pPr>
              <a:defRPr sz="1050" b="1">
                <a:solidFill>
                  <a:srgbClr val="B91C1C"/>
                </a:solidFill>
              </a:defRPr>
            </a:pPr>
            <a:r>
              <a:t>• Simulated FMCG Dataset: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  Synthetic network (seed 42) reflects realistic FMCG dynamics, but results represent simulated benchmarks rather than realized enterprise savings.</a:t>
            </a:r>
          </a:p>
          <a:p>
            <a:pPr>
              <a:defRPr sz="1050" b="1">
                <a:solidFill>
                  <a:srgbClr val="B91C1C"/>
                </a:solidFill>
              </a:defRPr>
            </a:pPr>
            <a:r>
              <a:t>• GAP-1: Destination Inventory Unmodeled: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  Retail stores currently modeled with 0 initial inventory; demand represents gross replenishment needed over lead time.</a:t>
            </a:r>
          </a:p>
          <a:p>
            <a:pPr>
              <a:defRPr sz="1050" b="1">
                <a:solidFill>
                  <a:srgbClr val="B91C1C"/>
                </a:solidFill>
              </a:defRPr>
            </a:pPr>
            <a:r>
              <a:t>• GAP-2: In-Transit Pipeline Unmodeled: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  Prior in-transit shipments not tracked in current schema; treated as 0 incoming units.</a:t>
            </a:r>
          </a:p>
          <a:p>
            <a:pPr>
              <a:defRPr sz="1050" b="1">
                <a:solidFill>
                  <a:srgbClr val="B91C1C"/>
                </a:solidFill>
              </a:defRPr>
            </a:pPr>
            <a:r>
              <a:t>• Store-Level Expiry Unmodeled: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  Warehouse expiry strictly enforced (FEFO); store POS shelf spoilage unmodeled and honestly labeled 'Not Modeled'.</a:t>
            </a:r>
          </a:p>
          <a:p>
            <a:pPr>
              <a:defRPr sz="1050" b="1">
                <a:solidFill>
                  <a:srgbClr val="B91C1C"/>
                </a:solidFill>
              </a:defRPr>
            </a:pPr>
            <a:r>
              <a:t>• Advisory Planning: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  Produces human decision support; does not trigger physical dispatches without planner approval.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Production Next Steps (Roadmap)</a:t>
            </a:r>
          </a:p>
          <a:p>
            <a:pPr>
              <a:defRPr sz="1050" b="1">
                <a:solidFill>
                  <a:srgbClr val="0284C7"/>
                </a:solidFill>
              </a:defRPr>
            </a:pPr>
            <a:r>
              <a:t>• 1. Real-Time ERP &amp; WMS Connectors: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  Direct connectors to SAP / Oracle SCM to ingest live inventory lots, batch statuses, and confirmed dispatch streams.</a:t>
            </a:r>
          </a:p>
          <a:p>
            <a:pPr>
              <a:defRPr sz="1050" b="1">
                <a:solidFill>
                  <a:srgbClr val="0284C7"/>
                </a:solidFill>
              </a:defRPr>
            </a:pPr>
            <a:r>
              <a:t>• 2. Store-Level POS &amp; Shrinkage Ingestion: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  Close GAP-1 by tracking store backroom on-hand stock and actual register checkout velocities.</a:t>
            </a:r>
          </a:p>
          <a:p>
            <a:pPr>
              <a:defRPr sz="1050" b="1">
                <a:solidFill>
                  <a:srgbClr val="0284C7"/>
                </a:solidFill>
              </a:defRPr>
            </a:pPr>
            <a:r>
              <a:t>• 3. GPS Telematics Pipeline: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  Close GAP-2 by streaming live in-transit truck positions and real-time highway delay re-routing.</a:t>
            </a:r>
          </a:p>
          <a:p>
            <a:pPr>
              <a:defRPr sz="1050" b="1">
                <a:solidFill>
                  <a:srgbClr val="0284C7"/>
                </a:solidFill>
              </a:defRPr>
            </a:pPr>
            <a:r>
              <a:t>• 4. Multi-Period Rolling Horizon MIP: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  Extend static single-period optimization into a multi-echelon 14-day rolling horizon MILP with inventory carryover.</a:t>
            </a:r>
          </a:p>
          <a:p>
            <a:pPr>
              <a:defRPr sz="1050" b="1">
                <a:solidFill>
                  <a:srgbClr val="0284C7"/>
                </a:solidFill>
              </a:defRPr>
            </a:pPr>
            <a:r>
              <a:t>• 5. Automated WMS Dispatch Execution: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  Trigger automated ASN (Advanced Shipping Notice) webhooks upon supply chain planner approval.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